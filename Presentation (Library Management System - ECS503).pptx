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580390"/>
            <a:ext cx="395033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076" y="1286509"/>
            <a:ext cx="6318884" cy="152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02061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8655" y="1228090"/>
            <a:ext cx="780732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8835" algn="l"/>
                <a:tab pos="5760720" algn="l"/>
              </a:tabLst>
            </a:pPr>
            <a:r>
              <a:rPr dirty="0" sz="4500" spc="-10"/>
              <a:t>Library</a:t>
            </a:r>
            <a:r>
              <a:rPr dirty="0" sz="4500"/>
              <a:t>	</a:t>
            </a:r>
            <a:r>
              <a:rPr dirty="0" sz="4500" spc="-10"/>
              <a:t>Management</a:t>
            </a:r>
            <a:r>
              <a:rPr dirty="0" sz="4500"/>
              <a:t>	</a:t>
            </a:r>
            <a:r>
              <a:rPr dirty="0" sz="4500" spc="-10"/>
              <a:t>System</a:t>
            </a:r>
            <a:endParaRPr sz="4500"/>
          </a:p>
        </p:txBody>
      </p:sp>
      <p:sp>
        <p:nvSpPr>
          <p:cNvPr id="5" name="object 5" descr=""/>
          <p:cNvSpPr txBox="1"/>
          <p:nvPr/>
        </p:nvSpPr>
        <p:spPr>
          <a:xfrm>
            <a:off x="2869088" y="2185034"/>
            <a:ext cx="34055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AD4E0"/>
                </a:solidFill>
                <a:latin typeface="Arial MT"/>
                <a:cs typeface="Arial MT"/>
              </a:rPr>
              <a:t>A Modern Dual-Interface </a:t>
            </a:r>
            <a:r>
              <a:rPr dirty="0" sz="1800" spc="-10">
                <a:solidFill>
                  <a:srgbClr val="CAD4E0"/>
                </a:solidFill>
                <a:latin typeface="Arial MT"/>
                <a:cs typeface="Arial MT"/>
              </a:rPr>
              <a:t>Solution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713837" y="3002254"/>
            <a:ext cx="786765" cy="339725"/>
          </a:xfrm>
          <a:custGeom>
            <a:avLst/>
            <a:gdLst/>
            <a:ahLst/>
            <a:cxnLst/>
            <a:rect l="l" t="t" r="r" b="b"/>
            <a:pathLst>
              <a:path w="786764" h="339725">
                <a:moveTo>
                  <a:pt x="710399" y="339140"/>
                </a:moveTo>
                <a:lnTo>
                  <a:pt x="76200" y="339140"/>
                </a:lnTo>
                <a:lnTo>
                  <a:pt x="46543" y="333142"/>
                </a:lnTo>
                <a:lnTo>
                  <a:pt x="22321" y="316795"/>
                </a:lnTo>
                <a:lnTo>
                  <a:pt x="5989" y="292570"/>
                </a:lnTo>
                <a:lnTo>
                  <a:pt x="0" y="262940"/>
                </a:lnTo>
                <a:lnTo>
                  <a:pt x="0" y="76200"/>
                </a:lnTo>
                <a:lnTo>
                  <a:pt x="5989" y="46570"/>
                </a:lnTo>
                <a:lnTo>
                  <a:pt x="22321" y="22345"/>
                </a:lnTo>
                <a:lnTo>
                  <a:pt x="46543" y="5998"/>
                </a:lnTo>
                <a:lnTo>
                  <a:pt x="76200" y="0"/>
                </a:lnTo>
                <a:lnTo>
                  <a:pt x="710399" y="0"/>
                </a:lnTo>
                <a:lnTo>
                  <a:pt x="740056" y="5998"/>
                </a:lnTo>
                <a:lnTo>
                  <a:pt x="764278" y="22345"/>
                </a:lnTo>
                <a:lnTo>
                  <a:pt x="780610" y="46570"/>
                </a:lnTo>
                <a:lnTo>
                  <a:pt x="786599" y="76200"/>
                </a:lnTo>
                <a:lnTo>
                  <a:pt x="786599" y="262940"/>
                </a:lnTo>
                <a:lnTo>
                  <a:pt x="780610" y="292570"/>
                </a:lnTo>
                <a:lnTo>
                  <a:pt x="764278" y="316795"/>
                </a:lnTo>
                <a:lnTo>
                  <a:pt x="740056" y="333142"/>
                </a:lnTo>
                <a:lnTo>
                  <a:pt x="710399" y="33914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853531" y="3073400"/>
            <a:ext cx="508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38BCF8"/>
                </a:solidFill>
                <a:latin typeface="Arial"/>
                <a:cs typeface="Arial"/>
              </a:rPr>
              <a:t>Java</a:t>
            </a:r>
            <a:r>
              <a:rPr dirty="0" sz="1050" spc="-25" b="1">
                <a:solidFill>
                  <a:srgbClr val="38BCF8"/>
                </a:solidFill>
                <a:latin typeface="Arial"/>
                <a:cs typeface="Arial"/>
              </a:rPr>
              <a:t> 25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619004" y="3002254"/>
            <a:ext cx="772160" cy="339725"/>
          </a:xfrm>
          <a:custGeom>
            <a:avLst/>
            <a:gdLst/>
            <a:ahLst/>
            <a:cxnLst/>
            <a:rect l="l" t="t" r="r" b="b"/>
            <a:pathLst>
              <a:path w="772160" h="339725">
                <a:moveTo>
                  <a:pt x="695528" y="339140"/>
                </a:moveTo>
                <a:lnTo>
                  <a:pt x="76200" y="339140"/>
                </a:lnTo>
                <a:lnTo>
                  <a:pt x="46564" y="333142"/>
                </a:lnTo>
                <a:lnTo>
                  <a:pt x="22340" y="316795"/>
                </a:lnTo>
                <a:lnTo>
                  <a:pt x="5996" y="292570"/>
                </a:lnTo>
                <a:lnTo>
                  <a:pt x="0" y="262940"/>
                </a:lnTo>
                <a:lnTo>
                  <a:pt x="0" y="76200"/>
                </a:lnTo>
                <a:lnTo>
                  <a:pt x="5996" y="46570"/>
                </a:lnTo>
                <a:lnTo>
                  <a:pt x="22340" y="22345"/>
                </a:lnTo>
                <a:lnTo>
                  <a:pt x="46564" y="5998"/>
                </a:lnTo>
                <a:lnTo>
                  <a:pt x="76200" y="0"/>
                </a:lnTo>
                <a:lnTo>
                  <a:pt x="695528" y="0"/>
                </a:lnTo>
                <a:lnTo>
                  <a:pt x="725158" y="5998"/>
                </a:lnTo>
                <a:lnTo>
                  <a:pt x="749382" y="22345"/>
                </a:lnTo>
                <a:lnTo>
                  <a:pt x="765729" y="46570"/>
                </a:lnTo>
                <a:lnTo>
                  <a:pt x="771728" y="76200"/>
                </a:lnTo>
                <a:lnTo>
                  <a:pt x="771728" y="262940"/>
                </a:lnTo>
                <a:lnTo>
                  <a:pt x="765729" y="292570"/>
                </a:lnTo>
                <a:lnTo>
                  <a:pt x="749382" y="316795"/>
                </a:lnTo>
                <a:lnTo>
                  <a:pt x="725158" y="333142"/>
                </a:lnTo>
                <a:lnTo>
                  <a:pt x="695528" y="33914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758723" y="3073400"/>
            <a:ext cx="49275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38BCF8"/>
                </a:solidFill>
                <a:latin typeface="Arial"/>
                <a:cs typeface="Arial"/>
              </a:rPr>
              <a:t>JavaFX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509287" y="3002254"/>
            <a:ext cx="1075690" cy="339725"/>
          </a:xfrm>
          <a:custGeom>
            <a:avLst/>
            <a:gdLst/>
            <a:ahLst/>
            <a:cxnLst/>
            <a:rect l="l" t="t" r="r" b="b"/>
            <a:pathLst>
              <a:path w="1075689" h="339725">
                <a:moveTo>
                  <a:pt x="999045" y="339140"/>
                </a:moveTo>
                <a:lnTo>
                  <a:pt x="76200" y="339140"/>
                </a:lnTo>
                <a:lnTo>
                  <a:pt x="46548" y="333142"/>
                </a:lnTo>
                <a:lnTo>
                  <a:pt x="22326" y="316795"/>
                </a:lnTo>
                <a:lnTo>
                  <a:pt x="5991" y="292570"/>
                </a:lnTo>
                <a:lnTo>
                  <a:pt x="0" y="262940"/>
                </a:lnTo>
                <a:lnTo>
                  <a:pt x="0" y="76200"/>
                </a:lnTo>
                <a:lnTo>
                  <a:pt x="5991" y="46570"/>
                </a:lnTo>
                <a:lnTo>
                  <a:pt x="22326" y="22345"/>
                </a:lnTo>
                <a:lnTo>
                  <a:pt x="46548" y="5998"/>
                </a:lnTo>
                <a:lnTo>
                  <a:pt x="76200" y="0"/>
                </a:lnTo>
                <a:lnTo>
                  <a:pt x="999045" y="0"/>
                </a:lnTo>
                <a:lnTo>
                  <a:pt x="1028675" y="5998"/>
                </a:lnTo>
                <a:lnTo>
                  <a:pt x="1052899" y="22345"/>
                </a:lnTo>
                <a:lnTo>
                  <a:pt x="1069247" y="46570"/>
                </a:lnTo>
                <a:lnTo>
                  <a:pt x="1075245" y="76200"/>
                </a:lnTo>
                <a:lnTo>
                  <a:pt x="1075245" y="262940"/>
                </a:lnTo>
                <a:lnTo>
                  <a:pt x="1069247" y="292570"/>
                </a:lnTo>
                <a:lnTo>
                  <a:pt x="1052899" y="316795"/>
                </a:lnTo>
                <a:lnTo>
                  <a:pt x="1028675" y="333142"/>
                </a:lnTo>
                <a:lnTo>
                  <a:pt x="999045" y="33914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648993" y="3073400"/>
            <a:ext cx="7962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38BCF8"/>
                </a:solidFill>
                <a:latin typeface="Arial"/>
                <a:cs typeface="Arial"/>
              </a:rPr>
              <a:t>PostgreSQL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703087" y="3002254"/>
            <a:ext cx="727075" cy="339725"/>
          </a:xfrm>
          <a:custGeom>
            <a:avLst/>
            <a:gdLst/>
            <a:ahLst/>
            <a:cxnLst/>
            <a:rect l="l" t="t" r="r" b="b"/>
            <a:pathLst>
              <a:path w="727075" h="339725">
                <a:moveTo>
                  <a:pt x="650875" y="339140"/>
                </a:moveTo>
                <a:lnTo>
                  <a:pt x="76200" y="339140"/>
                </a:lnTo>
                <a:lnTo>
                  <a:pt x="46548" y="333142"/>
                </a:lnTo>
                <a:lnTo>
                  <a:pt x="22326" y="316795"/>
                </a:lnTo>
                <a:lnTo>
                  <a:pt x="5991" y="292570"/>
                </a:lnTo>
                <a:lnTo>
                  <a:pt x="0" y="262940"/>
                </a:lnTo>
                <a:lnTo>
                  <a:pt x="0" y="76200"/>
                </a:lnTo>
                <a:lnTo>
                  <a:pt x="5991" y="46570"/>
                </a:lnTo>
                <a:lnTo>
                  <a:pt x="22326" y="22345"/>
                </a:lnTo>
                <a:lnTo>
                  <a:pt x="46548" y="5998"/>
                </a:lnTo>
                <a:lnTo>
                  <a:pt x="76200" y="0"/>
                </a:lnTo>
                <a:lnTo>
                  <a:pt x="650875" y="0"/>
                </a:lnTo>
                <a:lnTo>
                  <a:pt x="680531" y="5998"/>
                </a:lnTo>
                <a:lnTo>
                  <a:pt x="704753" y="22345"/>
                </a:lnTo>
                <a:lnTo>
                  <a:pt x="721085" y="46570"/>
                </a:lnTo>
                <a:lnTo>
                  <a:pt x="727075" y="76200"/>
                </a:lnTo>
                <a:lnTo>
                  <a:pt x="727075" y="262940"/>
                </a:lnTo>
                <a:lnTo>
                  <a:pt x="721085" y="292570"/>
                </a:lnTo>
                <a:lnTo>
                  <a:pt x="704753" y="316795"/>
                </a:lnTo>
                <a:lnTo>
                  <a:pt x="680531" y="333142"/>
                </a:lnTo>
                <a:lnTo>
                  <a:pt x="650875" y="33914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842793" y="3073400"/>
            <a:ext cx="44830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38BCF8"/>
                </a:solidFill>
                <a:latin typeface="Arial"/>
                <a:cs typeface="Arial"/>
              </a:rPr>
              <a:t>Gradle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83853" y="3679195"/>
            <a:ext cx="7766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93A2B8"/>
                </a:solidFill>
                <a:latin typeface="Arial MT"/>
                <a:cs typeface="Arial MT"/>
              </a:rPr>
              <a:t>UE19</a:t>
            </a:r>
            <a:r>
              <a:rPr dirty="0" sz="1050" spc="-15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93A2B8"/>
                </a:solidFill>
                <a:latin typeface="Arial MT"/>
                <a:cs typeface="Arial MT"/>
              </a:rPr>
              <a:t>•</a:t>
            </a:r>
            <a:r>
              <a:rPr dirty="0" sz="1050" spc="-1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93A2B8"/>
                </a:solidFill>
                <a:latin typeface="Arial MT"/>
                <a:cs typeface="Arial MT"/>
              </a:rPr>
              <a:t>2025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dirty="0" spc="-10"/>
              <a:t>Overview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900" y="1208405"/>
            <a:ext cx="7795895" cy="2315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A comprehensive library management solution designed to streamline library operations for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institutions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of all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sizes.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350">
              <a:latin typeface="Arial MT"/>
              <a:cs typeface="Arial MT"/>
            </a:endParaRPr>
          </a:p>
          <a:p>
            <a:pPr marL="316865" indent="-1644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Efficient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book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tracking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cataloging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system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316865" indent="-164465">
              <a:lnSpc>
                <a:spcPct val="100000"/>
              </a:lnSpc>
              <a:spcBef>
                <a:spcPts val="5"/>
              </a:spcBef>
              <a:buChar char="•"/>
              <a:tabLst>
                <a:tab pos="316865" algn="l"/>
              </a:tabLst>
            </a:pP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Student/member management with detailed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records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316865" indent="-1644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Seamless book issue and return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workflows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316865" indent="-164465">
              <a:lnSpc>
                <a:spcPct val="100000"/>
              </a:lnSpc>
              <a:spcBef>
                <a:spcPts val="5"/>
              </a:spcBef>
              <a:buChar char="•"/>
              <a:tabLst>
                <a:tab pos="316865" algn="l"/>
              </a:tabLst>
            </a:pP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Real-time availability tracking and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reporting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Two</a:t>
            </a:r>
            <a:r>
              <a:rPr dirty="0" spc="-80"/>
              <a:t> </a:t>
            </a:r>
            <a:r>
              <a:rPr dirty="0"/>
              <a:t>Powerful</a:t>
            </a:r>
            <a:r>
              <a:rPr dirty="0" spc="-80"/>
              <a:t> </a:t>
            </a:r>
            <a:r>
              <a:rPr dirty="0" spc="-10"/>
              <a:t>Interfaces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93700" y="1186154"/>
            <a:ext cx="8356600" cy="3018155"/>
            <a:chOff x="393700" y="1186154"/>
            <a:chExt cx="8356600" cy="30181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00" y="1186154"/>
              <a:ext cx="8356600" cy="85854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700" y="2044700"/>
              <a:ext cx="8356600" cy="8636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09600" y="1325854"/>
              <a:ext cx="7924800" cy="1295400"/>
            </a:xfrm>
            <a:custGeom>
              <a:avLst/>
              <a:gdLst/>
              <a:ahLst/>
              <a:cxnLst/>
              <a:rect l="l" t="t" r="r" b="b"/>
              <a:pathLst>
                <a:path w="7924800" h="1295400">
                  <a:moveTo>
                    <a:pt x="7924800" y="1295399"/>
                  </a:moveTo>
                  <a:lnTo>
                    <a:pt x="0" y="1295399"/>
                  </a:lnTo>
                  <a:lnTo>
                    <a:pt x="0" y="0"/>
                  </a:lnTo>
                  <a:lnTo>
                    <a:pt x="7924800" y="0"/>
                  </a:lnTo>
                  <a:lnTo>
                    <a:pt x="7924800" y="1295399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00" y="2481554"/>
              <a:ext cx="8356600" cy="8585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700" y="3340100"/>
              <a:ext cx="8356600" cy="8636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09600" y="2621254"/>
              <a:ext cx="7924800" cy="1295400"/>
            </a:xfrm>
            <a:custGeom>
              <a:avLst/>
              <a:gdLst/>
              <a:ahLst/>
              <a:cxnLst/>
              <a:rect l="l" t="t" r="r" b="b"/>
              <a:pathLst>
                <a:path w="7924800" h="1295400">
                  <a:moveTo>
                    <a:pt x="7924800" y="1295400"/>
                  </a:moveTo>
                  <a:lnTo>
                    <a:pt x="0" y="1295400"/>
                  </a:lnTo>
                  <a:lnTo>
                    <a:pt x="0" y="0"/>
                  </a:lnTo>
                  <a:lnTo>
                    <a:pt x="7924800" y="0"/>
                  </a:lnTo>
                  <a:lnTo>
                    <a:pt x="7924800" y="129540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01700" y="1603375"/>
            <a:ext cx="5481955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38BCF8"/>
                </a:solidFill>
                <a:latin typeface="Arial"/>
                <a:cs typeface="Arial"/>
              </a:rPr>
              <a:t>CLI</a:t>
            </a:r>
            <a:r>
              <a:rPr dirty="0" sz="2100" spc="-3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38BCF8"/>
                </a:solidFill>
                <a:latin typeface="Arial"/>
                <a:cs typeface="Arial"/>
              </a:rPr>
              <a:t>Version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solidFill>
                  <a:srgbClr val="CAD4E0"/>
                </a:solidFill>
                <a:latin typeface="Arial MT"/>
                <a:cs typeface="Arial MT"/>
              </a:rPr>
              <a:t>Lightning-fast</a:t>
            </a:r>
            <a:r>
              <a:rPr dirty="0" sz="1200" spc="-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0"/>
                </a:solidFill>
                <a:latin typeface="Arial MT"/>
                <a:cs typeface="Arial MT"/>
              </a:rPr>
              <a:t>command-line interface for power users and system </a:t>
            </a:r>
            <a:r>
              <a:rPr dirty="0" sz="1200" spc="-10">
                <a:solidFill>
                  <a:srgbClr val="CAD4E0"/>
                </a:solidFill>
                <a:latin typeface="Arial MT"/>
                <a:cs typeface="Arial MT"/>
              </a:rPr>
              <a:t>administrators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1700" y="2898775"/>
            <a:ext cx="645668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38BCF8"/>
                </a:solidFill>
                <a:latin typeface="Arial"/>
                <a:cs typeface="Arial"/>
              </a:rPr>
              <a:t>GUI</a:t>
            </a:r>
            <a:r>
              <a:rPr dirty="0" sz="2100" spc="-4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38BCF8"/>
                </a:solidFill>
                <a:latin typeface="Arial"/>
                <a:cs typeface="Arial"/>
              </a:rPr>
              <a:t>Version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solidFill>
                  <a:srgbClr val="CAD4E0"/>
                </a:solidFill>
                <a:latin typeface="Arial MT"/>
                <a:cs typeface="Arial MT"/>
              </a:rPr>
              <a:t>Beautiful JavaFX interface with PostgreSQL database integration for complete data </a:t>
            </a:r>
            <a:r>
              <a:rPr dirty="0" sz="1200" spc="-10">
                <a:solidFill>
                  <a:srgbClr val="CAD4E0"/>
                </a:solidFill>
                <a:latin typeface="Arial MT"/>
                <a:cs typeface="Arial MT"/>
              </a:rPr>
              <a:t>persistence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 </a:t>
            </a:r>
            <a:r>
              <a:rPr dirty="0" spc="-10"/>
              <a:t>Features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37076" y="1286509"/>
            <a:ext cx="5346065" cy="152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6530" indent="-163830">
              <a:lnSpc>
                <a:spcPct val="100000"/>
              </a:lnSpc>
              <a:spcBef>
                <a:spcPts val="100"/>
              </a:spcBef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Book</a:t>
            </a:r>
            <a:r>
              <a:rPr dirty="0" sz="1350" spc="-1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Management:</a:t>
            </a:r>
            <a:r>
              <a:rPr dirty="0" sz="1350" spc="-1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Add,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search,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update,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remove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books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Student</a:t>
            </a:r>
            <a:r>
              <a:rPr dirty="0" sz="1350" spc="-2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Registration:</a:t>
            </a:r>
            <a:r>
              <a:rPr dirty="0" sz="1350" spc="-2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Comprehensive</a:t>
            </a:r>
            <a:r>
              <a:rPr dirty="0" sz="135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member</a:t>
            </a:r>
            <a:r>
              <a:rPr dirty="0" sz="135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information</a:t>
            </a:r>
            <a:r>
              <a:rPr dirty="0" sz="135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system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Transaction</a:t>
            </a:r>
            <a:r>
              <a:rPr dirty="0" sz="1350" spc="-2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Handling:</a:t>
            </a:r>
            <a:r>
              <a:rPr dirty="0" sz="1350" spc="-1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Issue</a:t>
            </a:r>
            <a:r>
              <a:rPr dirty="0" sz="135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dirty="0" sz="135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return</a:t>
            </a:r>
            <a:r>
              <a:rPr dirty="0" sz="135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books</a:t>
            </a:r>
            <a:r>
              <a:rPr dirty="0" sz="135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35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tracking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  <a:endParaRPr sz="1350">
              <a:latin typeface="Arial MT"/>
              <a:cs typeface="Arial MT"/>
            </a:endParaR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Fine</a:t>
            </a:r>
            <a:r>
              <a:rPr dirty="0" sz="1350" spc="-1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Management:</a:t>
            </a:r>
            <a:r>
              <a:rPr dirty="0" sz="1350" spc="-1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Calculates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fines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 accurately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Technical</a:t>
            </a:r>
            <a:r>
              <a:rPr dirty="0" spc="-130"/>
              <a:t> </a:t>
            </a:r>
            <a:r>
              <a:rPr dirty="0" spc="-10"/>
              <a:t>Stack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09600" y="1249654"/>
            <a:ext cx="7924800" cy="1989455"/>
          </a:xfrm>
          <a:prstGeom prst="rect">
            <a:avLst/>
          </a:prstGeom>
          <a:solidFill>
            <a:srgbClr val="1E293A"/>
          </a:solidFill>
        </p:spPr>
        <p:txBody>
          <a:bodyPr wrap="square" lIns="0" tIns="2165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705"/>
              </a:spcBef>
            </a:pPr>
            <a:r>
              <a:rPr dirty="0" sz="1800" b="1">
                <a:solidFill>
                  <a:srgbClr val="38BCF8"/>
                </a:solidFill>
                <a:latin typeface="Arial"/>
                <a:cs typeface="Arial"/>
              </a:rPr>
              <a:t>CLI</a:t>
            </a:r>
            <a:r>
              <a:rPr dirty="0" sz="1800" spc="-3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8BCF8"/>
                </a:solidFill>
                <a:latin typeface="Arial"/>
                <a:cs typeface="Arial"/>
              </a:rPr>
              <a:t>Version</a:t>
            </a:r>
            <a:endParaRPr sz="18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755"/>
              </a:spcBef>
            </a:pP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MVC</a:t>
            </a:r>
            <a:r>
              <a:rPr dirty="0" sz="1050" spc="-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pattern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050" spc="-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AD4E0"/>
                </a:solidFill>
                <a:latin typeface="Arial MT"/>
                <a:cs typeface="Arial MT"/>
              </a:rPr>
              <a:t>in-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memory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storage</a:t>
            </a:r>
            <a:r>
              <a:rPr dirty="0" sz="1050" spc="-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using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ArrayList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data</a:t>
            </a:r>
            <a:r>
              <a:rPr dirty="0" sz="1050" spc="-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AD4E0"/>
                </a:solidFill>
                <a:latin typeface="Arial MT"/>
                <a:cs typeface="Arial MT"/>
              </a:rPr>
              <a:t>structures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</a:pPr>
            <a:r>
              <a:rPr dirty="0" sz="1800" b="1">
                <a:solidFill>
                  <a:srgbClr val="38BCF8"/>
                </a:solidFill>
                <a:latin typeface="Arial"/>
                <a:cs typeface="Arial"/>
              </a:rPr>
              <a:t>GUI </a:t>
            </a:r>
            <a:r>
              <a:rPr dirty="0" sz="1800" spc="-10" b="1">
                <a:solidFill>
                  <a:srgbClr val="38BCF8"/>
                </a:solidFill>
                <a:latin typeface="Arial"/>
                <a:cs typeface="Arial"/>
              </a:rPr>
              <a:t>Version</a:t>
            </a:r>
            <a:endParaRPr sz="18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755"/>
              </a:spcBef>
            </a:pP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Full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MVC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JavaFX,</a:t>
            </a:r>
            <a:r>
              <a:rPr dirty="0" sz="105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FXML</a:t>
            </a:r>
            <a:r>
              <a:rPr dirty="0" sz="1050" spc="-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views,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PostgreSQL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AD4E0"/>
                </a:solidFill>
                <a:latin typeface="Arial MT"/>
                <a:cs typeface="Arial MT"/>
              </a:rPr>
              <a:t>database</a:t>
            </a:r>
            <a:r>
              <a:rPr dirty="0" sz="1050" spc="-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AD4E0"/>
                </a:solidFill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6900" y="3460115"/>
            <a:ext cx="53625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Built</a:t>
            </a:r>
            <a:r>
              <a:rPr dirty="0" sz="1350" spc="-10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8BCF8"/>
                </a:solidFill>
                <a:latin typeface="Arial"/>
                <a:cs typeface="Arial"/>
              </a:rPr>
              <a:t>with:</a:t>
            </a:r>
            <a:r>
              <a:rPr dirty="0" sz="1350" spc="-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Java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25,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Gradle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9.0,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JavaFX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21,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PostgreSQL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AD4E0"/>
                </a:solidFill>
                <a:latin typeface="Arial MT"/>
                <a:cs typeface="Arial MT"/>
              </a:rPr>
              <a:t>JDBC</a:t>
            </a:r>
            <a:r>
              <a:rPr dirty="0" sz="135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AD4E0"/>
                </a:solidFill>
                <a:latin typeface="Arial MT"/>
                <a:cs typeface="Arial MT"/>
              </a:rPr>
              <a:t>42.7.2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Development </a:t>
            </a:r>
            <a:r>
              <a:rPr dirty="0" spc="-10"/>
              <a:t>Highlights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 indent="-163830">
              <a:lnSpc>
                <a:spcPct val="100000"/>
              </a:lnSpc>
              <a:spcBef>
                <a:spcPts val="100"/>
              </a:spcBef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b="1">
                <a:solidFill>
                  <a:srgbClr val="38BCF8"/>
                </a:solidFill>
                <a:latin typeface="Arial"/>
                <a:cs typeface="Arial"/>
              </a:rPr>
              <a:t>Modular</a:t>
            </a:r>
            <a:r>
              <a:rPr dirty="0" spc="-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38BCF8"/>
                </a:solidFill>
                <a:latin typeface="Arial"/>
                <a:cs typeface="Arial"/>
              </a:rPr>
              <a:t>Design: </a:t>
            </a:r>
            <a:r>
              <a:rPr dirty="0"/>
              <a:t>Clean package structure with model-view-controller </a:t>
            </a:r>
            <a:r>
              <a:rPr dirty="0" spc="-10"/>
              <a:t>separation</a:t>
            </a: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b="1">
                <a:solidFill>
                  <a:srgbClr val="38BCF8"/>
                </a:solidFill>
                <a:latin typeface="Arial"/>
                <a:cs typeface="Arial"/>
              </a:rPr>
              <a:t>Cross-Platform: </a:t>
            </a:r>
            <a:r>
              <a:rPr dirty="0"/>
              <a:t>Runs on Windows, Linux, and </a:t>
            </a:r>
            <a:r>
              <a:rPr dirty="0" spc="-10"/>
              <a:t>macOS</a:t>
            </a: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CAD4E0"/>
              </a:buClr>
              <a:buFont typeface="Arial MT"/>
              <a:buChar char="•"/>
            </a:p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spc="-10" b="1">
                <a:solidFill>
                  <a:srgbClr val="38BCF8"/>
                </a:solidFill>
                <a:latin typeface="Arial"/>
                <a:cs typeface="Arial"/>
              </a:rPr>
              <a:t>Testing </a:t>
            </a:r>
            <a:r>
              <a:rPr dirty="0" b="1">
                <a:solidFill>
                  <a:srgbClr val="38BCF8"/>
                </a:solidFill>
                <a:latin typeface="Arial"/>
                <a:cs typeface="Arial"/>
              </a:rPr>
              <a:t>Ready:</a:t>
            </a:r>
            <a:r>
              <a:rPr dirty="0" spc="-5" b="1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dirty="0"/>
              <a:t>JUnit</a:t>
            </a:r>
            <a:r>
              <a:rPr dirty="0" spc="-5"/>
              <a:t> </a:t>
            </a:r>
            <a:r>
              <a:rPr dirty="0"/>
              <a:t>integration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quality</a:t>
            </a:r>
            <a:r>
              <a:rPr dirty="0" spc="-5"/>
              <a:t> </a:t>
            </a:r>
            <a:r>
              <a:rPr dirty="0" spc="-10"/>
              <a:t>assurance</a:t>
            </a: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CAD4E0"/>
              </a:buClr>
              <a:buFont typeface="Arial MT"/>
              <a:buChar char="•"/>
            </a:pPr>
          </a:p>
          <a:p>
            <a:pPr marL="176530" indent="-163830">
              <a:lnSpc>
                <a:spcPct val="100000"/>
              </a:lnSpc>
              <a:buClr>
                <a:srgbClr val="CAD4E0"/>
              </a:buClr>
              <a:buFont typeface="Arial MT"/>
              <a:buChar char="•"/>
              <a:tabLst>
                <a:tab pos="176530" algn="l"/>
              </a:tabLst>
            </a:pPr>
            <a:r>
              <a:rPr dirty="0" b="1">
                <a:solidFill>
                  <a:srgbClr val="38BCF8"/>
                </a:solidFill>
                <a:latin typeface="Arial"/>
                <a:cs typeface="Arial"/>
              </a:rPr>
              <a:t>Easy Setup: </a:t>
            </a:r>
            <a:r>
              <a:rPr dirty="0"/>
              <a:t>Gradle wrapper for seamless </a:t>
            </a:r>
            <a:r>
              <a:rPr dirty="0" spc="-10"/>
              <a:t>builds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02061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0"/>
            <a:ext cx="3657600" cy="5143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31686" y="1069975"/>
            <a:ext cx="24809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 </a:t>
            </a:r>
            <a:r>
              <a:rPr dirty="0" sz="3600" spc="-60"/>
              <a:t>You!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3553618" y="1957070"/>
            <a:ext cx="20370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CAD4E0"/>
                </a:solidFill>
                <a:latin typeface="Arial MT"/>
                <a:cs typeface="Arial MT"/>
              </a:rPr>
              <a:t>Questions</a:t>
            </a:r>
            <a:r>
              <a:rPr dirty="0" sz="1500" spc="-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AD4E0"/>
                </a:solidFill>
                <a:latin typeface="Arial MT"/>
                <a:cs typeface="Arial MT"/>
              </a:rPr>
              <a:t>&amp;</a:t>
            </a:r>
            <a:r>
              <a:rPr dirty="0" sz="1500" spc="-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AD4E0"/>
                </a:solidFill>
                <a:latin typeface="Arial MT"/>
                <a:cs typeface="Arial MT"/>
              </a:rPr>
              <a:t>Discussion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4150" y="2800350"/>
            <a:ext cx="177800" cy="165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7200" y="3175000"/>
            <a:ext cx="184150" cy="18415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961173" y="2753359"/>
            <a:ext cx="3504565" cy="623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93A2B8"/>
                </a:solidFill>
                <a:latin typeface="Arial MT"/>
                <a:cs typeface="Arial MT"/>
              </a:rPr>
              <a:t>GitHub: github.com/UE19/projectwork_lms-</a:t>
            </a:r>
            <a:r>
              <a:rPr dirty="0" sz="1350" spc="-25">
                <a:solidFill>
                  <a:srgbClr val="93A2B8"/>
                </a:solidFill>
                <a:latin typeface="Arial MT"/>
                <a:cs typeface="Arial MT"/>
              </a:rPr>
              <a:t>01</a:t>
            </a:r>
            <a:endParaRPr sz="13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dirty="0" sz="1350">
                <a:solidFill>
                  <a:srgbClr val="93A2B8"/>
                </a:solidFill>
                <a:latin typeface="Arial MT"/>
                <a:cs typeface="Arial MT"/>
              </a:rPr>
              <a:t>Star the repository if you find it </a:t>
            </a:r>
            <a:r>
              <a:rPr dirty="0" sz="1350" spc="-10">
                <a:solidFill>
                  <a:srgbClr val="93A2B8"/>
                </a:solidFill>
                <a:latin typeface="Arial MT"/>
                <a:cs typeface="Arial MT"/>
              </a:rPr>
              <a:t>helpful!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37902" y="3844925"/>
            <a:ext cx="5594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63748A"/>
                </a:solidFill>
                <a:latin typeface="Arial MT"/>
                <a:cs typeface="Arial MT"/>
              </a:rPr>
              <a:t>Built</a:t>
            </a:r>
            <a:r>
              <a:rPr dirty="0" sz="1050" spc="-2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63748A"/>
                </a:solidFill>
                <a:latin typeface="Arial MT"/>
                <a:cs typeface="Arial MT"/>
              </a:rPr>
              <a:t>with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3850" y="3873500"/>
            <a:ext cx="158750" cy="1397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328537" y="3844925"/>
            <a:ext cx="12782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63748A"/>
                </a:solidFill>
                <a:latin typeface="Arial MT"/>
                <a:cs typeface="Arial MT"/>
              </a:rPr>
              <a:t>using</a:t>
            </a:r>
            <a:r>
              <a:rPr dirty="0" sz="105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3748A"/>
                </a:solidFill>
                <a:latin typeface="Arial MT"/>
                <a:cs typeface="Arial MT"/>
              </a:rPr>
              <a:t>Java</a:t>
            </a:r>
            <a:r>
              <a:rPr dirty="0" sz="105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3748A"/>
                </a:solidFill>
                <a:latin typeface="Arial MT"/>
                <a:cs typeface="Arial MT"/>
              </a:rPr>
              <a:t>&amp;</a:t>
            </a:r>
            <a:r>
              <a:rPr dirty="0" sz="105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3748A"/>
                </a:solidFill>
                <a:latin typeface="Arial MT"/>
                <a:cs typeface="Arial MT"/>
              </a:rPr>
              <a:t>JavaFX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2025-11-24T14:15:28Z</dcterms:created>
  <dcterms:modified xsi:type="dcterms:W3CDTF">2025-11-24T14:15:28Z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Zen Browser 145.0.1</vt:lpwstr>
  </property>
  <property fmtid="{D5CDD505-2E9C-101B-9397-08002B2CF9AE}" pid="4" name="LastSaved">
    <vt:filetime>2025-11-24T00:00:00Z</vt:filetime>
  </property>
  <property fmtid="{D5CDD505-2E9C-101B-9397-08002B2CF9AE}" pid="5" name="Producer">
    <vt:lpwstr>cairo 1.18.0 (https://cairographics.org)</vt:lpwstr>
  </property>
</Properties>
</file>